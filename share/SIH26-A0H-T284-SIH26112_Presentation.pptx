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565431-9485-9A41-6BEE-E69C8E4A712E}" v="1" dt="2026-08-30T12:46:54.522"/>
    <p1510:client id="{811F39E0-CB1D-3678-655C-BDF04D3EA7C2}" v="1258" dt="2026-08-30T07:50:31.5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4844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/>
                <a:ea typeface="ＭＳ Ｐゴシック"/>
                <a:cs typeface="Arial"/>
              </a:rPr>
              <a:t>Problem Statement ID –</a:t>
            </a:r>
            <a:r>
              <a:rPr lang="en-US" sz="1600" dirty="0">
                <a:solidFill>
                  <a:srgbClr val="212529"/>
                </a:solidFill>
                <a:latin typeface="Calibri"/>
                <a:ea typeface="Calibri"/>
                <a:cs typeface="Calibri"/>
              </a:rPr>
              <a:t>SIH26112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/>
                <a:ea typeface="ＭＳ Ｐゴシック"/>
                <a:cs typeface="Arial"/>
              </a:rPr>
              <a:t>Problem Statement Title-</a:t>
            </a:r>
            <a:r>
              <a:rPr lang="en-US" sz="1600" b="1" dirty="0">
                <a:latin typeface="Calibri"/>
                <a:ea typeface="Calibri"/>
                <a:cs typeface="Calibri"/>
              </a:rPr>
              <a:t> </a:t>
            </a:r>
            <a:r>
              <a:rPr lang="en-IN" dirty="0"/>
              <a:t>Design and Develop a Modular Autonomous Mobile Robot (AMR) Platform for Smart Warehouse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/>
                <a:ea typeface="ＭＳ Ｐゴシック"/>
                <a:cs typeface="Arial"/>
              </a:rPr>
              <a:t>Theme-</a:t>
            </a:r>
            <a:r>
              <a:rPr lang="en-IN" dirty="0"/>
              <a:t>Robotics and Drones</a:t>
            </a:r>
            <a:endParaRPr lang="en-US" sz="1600" dirty="0">
              <a:solidFill>
                <a:srgbClr val="212529"/>
              </a:solidFill>
              <a:latin typeface="Calibri"/>
              <a:ea typeface="Calibri"/>
              <a:cs typeface="Calibri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/>
                <a:ea typeface="ＭＳ Ｐゴシック"/>
                <a:cs typeface="Arial"/>
              </a:rPr>
              <a:t>PS Category-</a:t>
            </a:r>
            <a:r>
              <a:rPr lang="en-US" sz="1600" dirty="0">
                <a:latin typeface="Arial"/>
                <a:ea typeface="ＭＳ Ｐゴシック"/>
                <a:cs typeface="Arial"/>
              </a:rPr>
              <a:t>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/>
                <a:ea typeface="ＭＳ Ｐゴシック"/>
                <a:cs typeface="Arial"/>
              </a:rPr>
              <a:t>Team ID-</a:t>
            </a:r>
            <a:r>
              <a:rPr lang="en-US" sz="1600" dirty="0">
                <a:latin typeface="Calibri"/>
                <a:ea typeface="Calibri"/>
                <a:cs typeface="Calibri"/>
              </a:rPr>
              <a:t>SIH26-A0H-T284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/>
                <a:ea typeface="ＭＳ Ｐゴシック"/>
                <a:cs typeface="Arial"/>
              </a:rPr>
              <a:t>Team Name (Registered on portal)-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Krayons</a:t>
            </a:r>
            <a:endParaRPr lang="en-IN" sz="1600" b="1" dirty="0">
              <a:latin typeface="Arial"/>
              <a:ea typeface="ＭＳ Ｐゴシック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107869" y="1144583"/>
            <a:ext cx="39881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latin typeface="Arial"/>
                <a:ea typeface="ＭＳ Ｐゴシック"/>
                <a:cs typeface="Arial"/>
              </a:rPr>
              <a:t> </a:t>
            </a:r>
            <a:endParaRPr lang="en-US"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285D0-7981-426C-AFD9-9E56E8BDCB70}" type="slidenum">
              <a:rPr lang="en-US" b="1" dirty="0">
                <a:solidFill>
                  <a:schemeClr val="bg1"/>
                </a:solidFill>
              </a:rPr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flipV="1">
            <a:off x="-705592" y="5801141"/>
            <a:ext cx="66936" cy="129680"/>
          </a:xfrm>
        </p:spPr>
        <p:txBody>
          <a:bodyPr/>
          <a:lstStyle/>
          <a:p>
            <a:pPr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1540" y="173077"/>
            <a:ext cx="1390402" cy="86671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Krayons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E801BD-3FA1-BAFC-539F-CBDB51B9B154}"/>
              </a:ext>
            </a:extLst>
          </p:cNvPr>
          <p:cNvSpPr txBox="1"/>
          <p:nvPr/>
        </p:nvSpPr>
        <p:spPr>
          <a:xfrm>
            <a:off x="3122218" y="348002"/>
            <a:ext cx="5947559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sz="3000" dirty="0"/>
              <a:t>Proposed Solution &amp; Innovation</a:t>
            </a:r>
            <a:endParaRPr lang="en-US" sz="3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7582510-EC60-A574-8AB0-C4BCC7437405}"/>
                  </a:ext>
                </a:extLst>
              </p:cNvPr>
              <p:cNvSpPr txBox="1"/>
              <p:nvPr/>
            </p:nvSpPr>
            <p:spPr>
              <a:xfrm>
                <a:off x="1032930" y="1855044"/>
                <a:ext cx="10126133" cy="40934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effectLst/>
                    <a:latin typeface="+mn-lt"/>
                  </a:rPr>
                  <a:t>Proposed Solution:</a:t>
                </a:r>
                <a:r>
                  <a:rPr lang="en-IN" sz="2000" dirty="0">
                    <a:effectLst/>
                    <a:latin typeface="+mn-lt"/>
                  </a:rPr>
                  <a:t> A universal Autonomous Mobile Robot (AMR) chassis base (Part A) integrated with a modular bin/pallet handling functional attachment (Part B), entirely re-imagined and optimized using Autodesk Fusion's Generative Design and Additive Manufacturing workflows.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effectLst/>
                    <a:latin typeface="+mn-lt"/>
                  </a:rPr>
                  <a:t>Problem-Solution Mapping:</a:t>
                </a:r>
                <a:endParaRPr lang="en-IN" sz="2000" dirty="0">
                  <a:effectLst/>
                  <a:latin typeface="+mn-l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i="1" dirty="0">
                    <a:effectLst/>
                    <a:latin typeface="+mn-lt"/>
                  </a:rPr>
                  <a:t>High structural weight vs. payload capacity</a:t>
                </a:r>
                <a:r>
                  <a:rPr lang="en-IN" sz="2000" dirty="0">
                    <a:effectLst/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smtClean="0">
                        <a:latin typeface="+mn-lt"/>
                      </a:rPr>
                      <m:t>→</m:t>
                    </m:r>
                  </m:oMath>
                </a14:m>
                <a:r>
                  <a:rPr lang="en-IN" sz="2000" dirty="0">
                    <a:effectLst/>
                    <a:latin typeface="+mn-lt"/>
                  </a:rPr>
                  <a:t>Generative design and topology optimization for maximum mass reduction.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i="1" dirty="0">
                    <a:effectLst/>
                    <a:latin typeface="+mn-lt"/>
                  </a:rPr>
                  <a:t>Rigid single-purpose warehouse robots</a:t>
                </a:r>
                <a:r>
                  <a:rPr lang="en-IN" sz="2000" dirty="0">
                    <a:effectLst/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smtClean="0">
                        <a:latin typeface="+mn-lt"/>
                      </a:rPr>
                      <m:t>→</m:t>
                    </m:r>
                  </m:oMath>
                </a14:m>
                <a:r>
                  <a:rPr lang="en-IN" sz="2000" dirty="0">
                    <a:effectLst/>
                    <a:latin typeface="+mn-lt"/>
                  </a:rPr>
                  <a:t>Universal base chassis with standardized interchangeable modular attachments.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i="1" dirty="0">
                    <a:effectLst/>
                    <a:latin typeface="+mn-lt"/>
                  </a:rPr>
                  <a:t>Traditional manufacturing limitations</a:t>
                </a:r>
                <a:r>
                  <a:rPr lang="en-IN" sz="2000" dirty="0">
                    <a:effectLst/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smtClean="0">
                        <a:latin typeface="+mn-lt"/>
                      </a:rPr>
                      <m:t>→</m:t>
                    </m:r>
                  </m:oMath>
                </a14:m>
                <a:r>
                  <a:rPr lang="en-IN" sz="2000" dirty="0">
                    <a:effectLst/>
                    <a:latin typeface="+mn-lt"/>
                  </a:rPr>
                  <a:t>Design for Additive Manufacturing (</a:t>
                </a:r>
                <a:r>
                  <a:rPr lang="en-IN" sz="2000" dirty="0" err="1">
                    <a:effectLst/>
                    <a:latin typeface="+mn-lt"/>
                  </a:rPr>
                  <a:t>DfAM</a:t>
                </a:r>
                <a:r>
                  <a:rPr lang="en-IN" sz="2000" dirty="0">
                    <a:effectLst/>
                    <a:latin typeface="+mn-lt"/>
                  </a:rPr>
                  <a:t>) with self-supporting organic structures.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effectLst/>
                    <a:latin typeface="+mn-lt"/>
                  </a:rPr>
                  <a:t>Technical Approach:</a:t>
                </a:r>
                <a:r>
                  <a:rPr lang="en-IN" sz="2000" dirty="0">
                    <a:effectLst/>
                    <a:latin typeface="+mn-lt"/>
                  </a:rPr>
                  <a:t> Parametric CAD assembly in Autodesk Fusion, static stress and modal simulations, generative design space setups, and additive build process planning.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7582510-EC60-A574-8AB0-C4BCC7437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930" y="1855044"/>
                <a:ext cx="10126133" cy="4093428"/>
              </a:xfrm>
              <a:prstGeom prst="rect">
                <a:avLst/>
              </a:prstGeom>
              <a:blipFill>
                <a:blip r:embed="rId4"/>
                <a:stretch>
                  <a:fillRect l="-542" t="-744" b="-16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832E50A-70C7-0512-7A90-A3BFD7BADF3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1540" y="173077"/>
            <a:ext cx="1390402" cy="86671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Krayons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950FD9-A221-9076-ADB2-C5162844BCCA}"/>
                  </a:ext>
                </a:extLst>
              </p:cNvPr>
              <p:cNvSpPr txBox="1"/>
              <p:nvPr/>
            </p:nvSpPr>
            <p:spPr>
              <a:xfrm>
                <a:off x="1016001" y="1810310"/>
                <a:ext cx="9999133" cy="34778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000" b="1" dirty="0">
                    <a:effectLst/>
                    <a:latin typeface="+mn-lt"/>
                  </a:rPr>
                  <a:t>Workflow Architecture:</a:t>
                </a:r>
                <a:endParaRPr lang="en-IN" sz="2000" dirty="0">
                  <a:effectLst/>
                  <a:latin typeface="+mn-l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i="1" dirty="0">
                    <a:effectLst/>
                    <a:latin typeface="+mn-lt"/>
                  </a:rPr>
                  <a:t>Step 1 (Parameters &amp; Packaging):</a:t>
                </a:r>
                <a:r>
                  <a:rPr lang="en-IN" sz="2000" dirty="0">
                    <a:effectLst/>
                    <a:latin typeface="+mn-lt"/>
                  </a:rPr>
                  <a:t> Define workspace dimensions (</a:t>
                </a:r>
                <a14:m>
                  <m:oMath xmlns:m="http://schemas.openxmlformats.org/officeDocument/2006/math">
                    <m:r>
                      <a:rPr lang="en-IN" sz="2000" smtClean="0">
                        <a:latin typeface="+mn-lt"/>
                      </a:rPr>
                      <m:t>600</m:t>
                    </m:r>
                    <m:r>
                      <a:rPr lang="en-IN" sz="2000" i="0">
                        <a:latin typeface="+mn-lt"/>
                      </a:rPr>
                      <m:t>×600</m:t>
                    </m:r>
                    <m:r>
                      <m:rPr>
                        <m:nor/>
                      </m:rPr>
                      <a:rPr lang="en-IN" sz="2000" i="0">
                        <a:latin typeface="+mn-lt"/>
                      </a:rPr>
                      <m:t> mm</m:t>
                    </m:r>
                  </m:oMath>
                </a14:m>
                <a:r>
                  <a:rPr lang="en-IN" sz="2000" dirty="0">
                    <a:effectLst/>
                    <a:latin typeface="+mn-lt"/>
                  </a:rPr>
                  <a:t>), payload targets (30–50 kg), and internal packaging clearance for batteries, motor drivers, and microcontrollers.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i="1" dirty="0">
                    <a:effectLst/>
                    <a:latin typeface="+mn-lt"/>
                  </a:rPr>
                  <a:t>Step 2 (Preservation &amp; Obstacles):</a:t>
                </a:r>
                <a:r>
                  <a:rPr lang="en-IN" sz="2000" dirty="0">
                    <a:effectLst/>
                    <a:latin typeface="+mn-lt"/>
                  </a:rPr>
                  <a:t> Establish fixed mounting holes, mating interfaces, and keep-out zones for moving parts.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i="1" dirty="0">
                    <a:effectLst/>
                    <a:latin typeface="+mn-lt"/>
                  </a:rPr>
                  <a:t>Step 3 (Generative Study):</a:t>
                </a:r>
                <a:r>
                  <a:rPr lang="en-IN" sz="2000" dirty="0">
                    <a:effectLst/>
                    <a:latin typeface="+mn-lt"/>
                  </a:rPr>
                  <a:t> Execute Autodesk Fusion Generative Design algorithms targeting specific manufacturing constraints (Additive Manufacturing overhang angles, minimum wall thickness) and materials (e.g., AlSi10Mg or PA12-CF).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i="1" dirty="0">
                    <a:effectLst/>
                    <a:latin typeface="+mn-lt"/>
                  </a:rPr>
                  <a:t>Step 4 (Validation &amp; Assembly):</a:t>
                </a:r>
                <a:r>
                  <a:rPr lang="en-IN" sz="2000" dirty="0">
                    <a:effectLst/>
                    <a:latin typeface="+mn-lt"/>
                  </a:rPr>
                  <a:t> Simulate stress distribution under braking and turning inertia, integrate optimized components, and generate public Fusion link.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950FD9-A221-9076-ADB2-C5162844B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1" y="1810310"/>
                <a:ext cx="9999133" cy="3477875"/>
              </a:xfrm>
              <a:prstGeom prst="rect">
                <a:avLst/>
              </a:prstGeom>
              <a:blipFill>
                <a:blip r:embed="rId4"/>
                <a:stretch>
                  <a:fillRect l="-671" t="-1053" r="-915" b="-22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27273D08-E4BD-AC31-8D62-68A73C90F4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1540" y="173077"/>
            <a:ext cx="1390402" cy="86671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Krayons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60E40D-BD6E-7539-D9E1-7B58E03D8EE9}"/>
                  </a:ext>
                </a:extLst>
              </p:cNvPr>
              <p:cNvSpPr txBox="1"/>
              <p:nvPr/>
            </p:nvSpPr>
            <p:spPr>
              <a:xfrm>
                <a:off x="1101208" y="1931244"/>
                <a:ext cx="9477285" cy="40934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effectLst/>
                    <a:latin typeface="+mn-lt"/>
                  </a:rPr>
                  <a:t>Analysis of Feasibility:</a:t>
                </a:r>
                <a:r>
                  <a:rPr lang="en-IN" sz="2000" dirty="0">
                    <a:effectLst/>
                    <a:latin typeface="+mn-lt"/>
                  </a:rPr>
                  <a:t> Autodesk Fusion provides an end-to-end cloud-connected ecosystem that unifies CAD, simulation, generative design, and additive manufacturing, enabling rapid validation of complex organic geometries suitable for 3D printing.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effectLst/>
                    <a:latin typeface="+mn-lt"/>
                  </a:rPr>
                  <a:t>Challenges &amp; Strategies Table:</a:t>
                </a:r>
                <a:endParaRPr lang="en-IN" sz="2000" dirty="0">
                  <a:effectLst/>
                  <a:latin typeface="+mn-l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i="1" dirty="0">
                    <a:effectLst/>
                    <a:latin typeface="+mn-lt"/>
                  </a:rPr>
                  <a:t>Challenge:</a:t>
                </a:r>
                <a:r>
                  <a:rPr lang="en-IN" sz="2000" dirty="0">
                    <a:effectLst/>
                    <a:latin typeface="+mn-lt"/>
                  </a:rPr>
                  <a:t> High stress concentrations at caster and motor mounts </a:t>
                </a:r>
                <a14:m>
                  <m:oMath xmlns:m="http://schemas.openxmlformats.org/officeDocument/2006/math">
                    <m:r>
                      <a:rPr lang="en-IN" sz="2000" smtClean="0">
                        <a:latin typeface="+mn-lt"/>
                      </a:rPr>
                      <m:t>→</m:t>
                    </m:r>
                  </m:oMath>
                </a14:m>
                <a:r>
                  <a:rPr lang="en-IN" sz="2000" i="1" dirty="0">
                    <a:effectLst/>
                    <a:latin typeface="+mn-lt"/>
                  </a:rPr>
                  <a:t>Strategy:</a:t>
                </a:r>
                <a:r>
                  <a:rPr lang="en-IN" sz="2000" dirty="0">
                    <a:effectLst/>
                    <a:latin typeface="+mn-lt"/>
                  </a:rPr>
                  <a:t> Localized topology optimization and rib reinforcement.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i="1" dirty="0">
                    <a:effectLst/>
                    <a:latin typeface="+mn-lt"/>
                  </a:rPr>
                  <a:t>Challenge:</a:t>
                </a:r>
                <a:r>
                  <a:rPr lang="en-IN" sz="2000" dirty="0">
                    <a:effectLst/>
                    <a:latin typeface="+mn-lt"/>
                  </a:rPr>
                  <a:t> Excessive dead weight reducing operating battery life </a:t>
                </a:r>
                <a14:m>
                  <m:oMath xmlns:m="http://schemas.openxmlformats.org/officeDocument/2006/math">
                    <m:r>
                      <a:rPr lang="en-IN" sz="2000" smtClean="0">
                        <a:latin typeface="+mn-lt"/>
                      </a:rPr>
                      <m:t>→</m:t>
                    </m:r>
                  </m:oMath>
                </a14:m>
                <a:r>
                  <a:rPr lang="en-IN" sz="2000" i="1" dirty="0">
                    <a:effectLst/>
                    <a:latin typeface="+mn-lt"/>
                  </a:rPr>
                  <a:t>Strategy:</a:t>
                </a:r>
                <a:r>
                  <a:rPr lang="en-IN" sz="2000" dirty="0">
                    <a:effectLst/>
                    <a:latin typeface="+mn-lt"/>
                  </a:rPr>
                  <a:t> 35%+ mass reduction via generative lattice structures.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i="1" dirty="0">
                    <a:effectLst/>
                    <a:latin typeface="+mn-lt"/>
                  </a:rPr>
                  <a:t>Challenge:</a:t>
                </a:r>
                <a:r>
                  <a:rPr lang="en-IN" sz="2000" dirty="0">
                    <a:effectLst/>
                    <a:latin typeface="+mn-lt"/>
                  </a:rPr>
                  <a:t> Complex tool-changing maintenance </a:t>
                </a:r>
                <a14:m>
                  <m:oMath xmlns:m="http://schemas.openxmlformats.org/officeDocument/2006/math">
                    <m:r>
                      <a:rPr lang="en-IN" sz="2000" smtClean="0">
                        <a:latin typeface="+mn-lt"/>
                      </a:rPr>
                      <m:t>→</m:t>
                    </m:r>
                  </m:oMath>
                </a14:m>
                <a:r>
                  <a:rPr lang="en-IN" sz="2000" i="1" dirty="0">
                    <a:effectLst/>
                    <a:latin typeface="+mn-lt"/>
                  </a:rPr>
                  <a:t>Strategy:</a:t>
                </a:r>
                <a:r>
                  <a:rPr lang="en-IN" sz="2000" dirty="0">
                    <a:effectLst/>
                    <a:latin typeface="+mn-lt"/>
                  </a:rPr>
                  <a:t> Standardized quick-lock mechanical/electrical docking interfaces.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i="1" dirty="0">
                    <a:effectLst/>
                    <a:latin typeface="+mn-lt"/>
                  </a:rPr>
                  <a:t>Challenge:</a:t>
                </a:r>
                <a:r>
                  <a:rPr lang="en-IN" sz="2000" dirty="0">
                    <a:effectLst/>
                    <a:latin typeface="+mn-lt"/>
                  </a:rPr>
                  <a:t> 3D printing overhangs and support removal </a:t>
                </a:r>
                <a14:m>
                  <m:oMath xmlns:m="http://schemas.openxmlformats.org/officeDocument/2006/math">
                    <m:r>
                      <a:rPr lang="en-IN" sz="2000" smtClean="0">
                        <a:latin typeface="+mn-lt"/>
                      </a:rPr>
                      <m:t>→</m:t>
                    </m:r>
                  </m:oMath>
                </a14:m>
                <a:r>
                  <a:rPr lang="en-IN" sz="2000" i="1" dirty="0">
                    <a:effectLst/>
                    <a:latin typeface="+mn-lt"/>
                  </a:rPr>
                  <a:t>Strategy:</a:t>
                </a:r>
                <a:r>
                  <a:rPr lang="en-IN" sz="2000" dirty="0">
                    <a:effectLst/>
                    <a:latin typeface="+mn-lt"/>
                  </a:rPr>
                  <a:t> </a:t>
                </a:r>
                <a:r>
                  <a:rPr lang="en-IN" sz="2000" dirty="0" err="1">
                    <a:effectLst/>
                    <a:latin typeface="+mn-lt"/>
                  </a:rPr>
                  <a:t>DfAM</a:t>
                </a:r>
                <a:r>
                  <a:rPr lang="en-IN" sz="2000" dirty="0">
                    <a:effectLst/>
                    <a:latin typeface="+mn-lt"/>
                  </a:rPr>
                  <a:t>-driven overhang angle constraints (</a:t>
                </a:r>
                <a14:m>
                  <m:oMath xmlns:m="http://schemas.openxmlformats.org/officeDocument/2006/math">
                    <m:r>
                      <a:rPr lang="en-IN" sz="2000" smtClean="0">
                        <a:latin typeface="+mn-lt"/>
                      </a:rPr>
                      <m:t>&lt;</m:t>
                    </m:r>
                    <m:sSup>
                      <m:sSupPr>
                        <m:ctrlPr>
                          <a:rPr lang="en-IN" sz="2000" i="0">
                            <a:latin typeface="+mn-lt"/>
                          </a:rPr>
                        </m:ctrlPr>
                      </m:sSupPr>
                      <m:e>
                        <m:r>
                          <a:rPr lang="en-IN" sz="2000" i="0">
                            <a:latin typeface="+mn-lt"/>
                          </a:rPr>
                          <m:t>45</m:t>
                        </m:r>
                      </m:e>
                      <m:sup>
                        <m:r>
                          <a:rPr lang="en-IN" sz="2000" i="0">
                            <a:latin typeface="+mn-lt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IN" sz="2000" dirty="0">
                    <a:effectLst/>
                    <a:latin typeface="+mn-lt"/>
                  </a:rPr>
                  <a:t>) enforced directly in Fusion.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60E40D-BD6E-7539-D9E1-7B58E03D8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208" y="1931244"/>
                <a:ext cx="9477285" cy="4093428"/>
              </a:xfrm>
              <a:prstGeom prst="rect">
                <a:avLst/>
              </a:prstGeom>
              <a:blipFill>
                <a:blip r:embed="rId4"/>
                <a:stretch>
                  <a:fillRect l="-579" t="-894" r="-129" b="-17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16E306C2-E727-AC45-4167-E8BB0C1A93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1540" y="173077"/>
            <a:ext cx="1390402" cy="86671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Krayons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1EA583-0635-A339-028F-E09DA6C82A96}"/>
                  </a:ext>
                </a:extLst>
              </p:cNvPr>
              <p:cNvSpPr txBox="1"/>
              <p:nvPr/>
            </p:nvSpPr>
            <p:spPr>
              <a:xfrm>
                <a:off x="1041400" y="1709972"/>
                <a:ext cx="9745133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effectLst/>
                    <a:latin typeface="+mn-lt"/>
                  </a:rPr>
                  <a:t>Target Users &amp; Applications:</a:t>
                </a:r>
                <a:r>
                  <a:rPr lang="en-IN" sz="2000" dirty="0">
                    <a:effectLst/>
                    <a:latin typeface="+mn-lt"/>
                  </a:rPr>
                  <a:t> Smart warehouses, automated </a:t>
                </a:r>
                <a:r>
                  <a:rPr lang="en-IN" sz="2000" dirty="0" err="1">
                    <a:effectLst/>
                    <a:latin typeface="+mn-lt"/>
                  </a:rPr>
                  <a:t>fulfillment</a:t>
                </a:r>
                <a:r>
                  <a:rPr lang="en-IN" sz="2000" dirty="0">
                    <a:effectLst/>
                    <a:latin typeface="+mn-lt"/>
                  </a:rPr>
                  <a:t> </a:t>
                </a:r>
                <a:r>
                  <a:rPr lang="en-IN" sz="2000" dirty="0" err="1">
                    <a:effectLst/>
                    <a:latin typeface="+mn-lt"/>
                  </a:rPr>
                  <a:t>centers</a:t>
                </a:r>
                <a:r>
                  <a:rPr lang="en-IN" sz="2000" dirty="0">
                    <a:effectLst/>
                    <a:latin typeface="+mn-lt"/>
                  </a:rPr>
                  <a:t>, flexible manufacturing assembly lines.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effectLst/>
                    <a:latin typeface="+mn-lt"/>
                  </a:rPr>
                  <a:t>Platform Benefits:</a:t>
                </a:r>
                <a:r>
                  <a:rPr lang="en-IN" sz="2000" dirty="0">
                    <a:effectLst/>
                    <a:latin typeface="+mn-lt"/>
                  </a:rPr>
                  <a:t> Exceptional strength-to-weight ratio, rapid modular tool-swapping, minimized material waste via additive manufacturing, and optimized internal component packaging.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effectLst/>
                    <a:latin typeface="+mn-lt"/>
                  </a:rPr>
                  <a:t>Key Targets:</a:t>
                </a:r>
                <a:endParaRPr lang="en-IN" sz="2000" dirty="0">
                  <a:effectLst/>
                  <a:latin typeface="+mn-l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000" smtClean="0">
                        <a:latin typeface="+mn-lt"/>
                      </a:rPr>
                      <m:t>≥</m:t>
                    </m:r>
                    <m:r>
                      <a:rPr lang="en-IN" sz="2000" i="0">
                        <a:latin typeface="+mn-lt"/>
                      </a:rPr>
                      <m:t>35%</m:t>
                    </m:r>
                  </m:oMath>
                </a14:m>
                <a:r>
                  <a:rPr lang="en-IN" sz="2000" dirty="0">
                    <a:effectLst/>
                    <a:latin typeface="+mn-lt"/>
                  </a:rPr>
                  <a:t>Weight Reduction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effectLst/>
                    <a:latin typeface="+mn-lt"/>
                  </a:rPr>
                  <a:t>0</a:t>
                </a:r>
                <a:r>
                  <a:rPr lang="en-IN" sz="2000" dirty="0">
                    <a:effectLst/>
                    <a:latin typeface="+mn-lt"/>
                  </a:rPr>
                  <a:t> Structural Failures under max 50 kg payload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effectLst/>
                    <a:latin typeface="+mn-lt"/>
                  </a:rPr>
                  <a:t>100%</a:t>
                </a:r>
                <a:r>
                  <a:rPr lang="en-IN" sz="2000" dirty="0">
                    <a:effectLst/>
                    <a:latin typeface="+mn-lt"/>
                  </a:rPr>
                  <a:t> Native Autodesk Fusion workflow integration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1EA583-0635-A339-028F-E09DA6C82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400" y="1709972"/>
                <a:ext cx="9745133" cy="2862322"/>
              </a:xfrm>
              <a:prstGeom prst="rect">
                <a:avLst/>
              </a:prstGeom>
              <a:blipFill>
                <a:blip r:embed="rId4"/>
                <a:stretch>
                  <a:fillRect l="-563" t="-1279" r="-688" b="-29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8933" y="2375746"/>
            <a:ext cx="4326467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r>
              <a:rPr lang="en-IN" sz="2000" dirty="0"/>
              <a:t>Design for Additive Manufacturing (</a:t>
            </a:r>
            <a:r>
              <a:rPr lang="en-IN" sz="2000" dirty="0" err="1"/>
              <a:t>DfAM</a:t>
            </a:r>
            <a:r>
              <a:rPr lang="en-IN" sz="2000" dirty="0"/>
              <a:t>), Topology Optimization in Mobile Robotics, Kinematic Modular Interfaces for AGVs/AMRs, Generative Design Methodologies.</a:t>
            </a:r>
            <a:endParaRPr lang="en-US" sz="2000" dirty="0">
              <a:cs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271836BE-D90A-2369-DC8C-6F66711F002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1540" y="173077"/>
            <a:ext cx="1390402" cy="86671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Krayons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FD13FE-B16A-9760-1707-2587390C6DD3}"/>
              </a:ext>
            </a:extLst>
          </p:cNvPr>
          <p:cNvSpPr txBox="1"/>
          <p:nvPr/>
        </p:nvSpPr>
        <p:spPr>
          <a:xfrm>
            <a:off x="860857" y="2045560"/>
            <a:ext cx="296563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1" u="sng">
                <a:latin typeface="Calibri"/>
                <a:ea typeface="ＭＳ Ｐゴシック"/>
                <a:cs typeface="Calibri"/>
              </a:rPr>
              <a:t>Research topics:</a:t>
            </a:r>
            <a:endParaRPr lang="en-US" sz="2000" b="1" i="1" u="sng"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B16333-29EF-B05D-8FD8-40AEB97E087A}"/>
              </a:ext>
            </a:extLst>
          </p:cNvPr>
          <p:cNvSpPr txBox="1"/>
          <p:nvPr/>
        </p:nvSpPr>
        <p:spPr>
          <a:xfrm>
            <a:off x="8292831" y="2045560"/>
            <a:ext cx="296563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1" u="sng">
                <a:latin typeface="Calibri"/>
                <a:ea typeface="ＭＳ Ｐゴシック"/>
                <a:cs typeface="Calibri"/>
              </a:rPr>
              <a:t>References:</a:t>
            </a:r>
            <a:endParaRPr lang="en-US" sz="2000" b="1" i="1" u="sng"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6B7CFA-9BA1-3D53-25FB-3D44FC232C9C}"/>
              </a:ext>
            </a:extLst>
          </p:cNvPr>
          <p:cNvSpPr txBox="1"/>
          <p:nvPr/>
        </p:nvSpPr>
        <p:spPr>
          <a:xfrm>
            <a:off x="5690260" y="2686792"/>
            <a:ext cx="6096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dirty="0"/>
              <a:t>[1] Autodesk Fusion Official Documentation: Generative Design and Additive Manufacturing Workflows.</a:t>
            </a:r>
          </a:p>
          <a:p>
            <a:pPr lvl="0"/>
            <a:r>
              <a:rPr lang="en-IN" dirty="0"/>
              <a:t>[2] Gibson, I., Rosen, D., &amp; Stucker, B. </a:t>
            </a:r>
            <a:r>
              <a:rPr lang="en-IN" i="1" dirty="0"/>
              <a:t>Additive Manufacturing Technologies: 3D Printing, Rapid Prototyping, and Direct Digital Manufacturing</a:t>
            </a:r>
            <a:r>
              <a:rPr lang="en-IN" dirty="0"/>
              <a:t>. Springer.</a:t>
            </a:r>
          </a:p>
          <a:p>
            <a:pPr lvl="0"/>
            <a:r>
              <a:rPr lang="en-IN" dirty="0"/>
              <a:t>[3] Sigmund, O., &amp; Maute, K. </a:t>
            </a:r>
            <a:r>
              <a:rPr lang="en-IN" i="1" dirty="0"/>
              <a:t>Topology optimization approaches: A comparative review</a:t>
            </a:r>
            <a:r>
              <a:rPr lang="en-IN" dirty="0"/>
              <a:t>. Structural and Multidisciplinary Optimization.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</Words>
  <Application>Microsoft Office PowerPoint</Application>
  <PresentationFormat>Widescreen</PresentationFormat>
  <Paragraphs>61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siddhu siddhu</cp:lastModifiedBy>
  <cp:revision>7</cp:revision>
  <dcterms:created xsi:type="dcterms:W3CDTF">2013-12-12T18:46:50Z</dcterms:created>
  <dcterms:modified xsi:type="dcterms:W3CDTF">2026-09-14T15:21:45Z</dcterms:modified>
  <cp:category/>
</cp:coreProperties>
</file>