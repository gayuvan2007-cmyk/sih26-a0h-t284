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65431-9485-9A41-6BEE-E69C8E4A712E}" v="1" dt="2026-08-30T12:46:54.522"/>
    <p1510:client id="{811F39E0-CB1D-3678-655C-BDF04D3EA7C2}" v="1258" dt="2026-08-30T07:50:31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232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/>
                <a:ea typeface="ＭＳ Ｐゴシック"/>
                <a:cs typeface="Arial"/>
              </a:rPr>
              <a:t>Problem Statement ID –</a:t>
            </a:r>
            <a:r>
              <a:rPr lang="en-US" sz="160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SIH26123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/>
                <a:ea typeface="ＭＳ Ｐゴシック"/>
                <a:cs typeface="Arial"/>
              </a:rPr>
              <a:t>Problem Statement Title-</a:t>
            </a:r>
            <a:r>
              <a:rPr lang="en-US" sz="1600">
                <a:latin typeface="Calibri"/>
                <a:ea typeface="Calibri"/>
                <a:cs typeface="Calibri"/>
              </a:rPr>
              <a:t>Edge-AI Based Distributed Fleet Coordination for Autonomous Mobile Robots (AMRs) in Smart Warehouses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/>
                <a:ea typeface="ＭＳ Ｐゴシック"/>
                <a:cs typeface="Arial"/>
              </a:rPr>
              <a:t>Theme-</a:t>
            </a:r>
            <a:r>
              <a:rPr lang="en-US" sz="160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/>
                <a:ea typeface="ＭＳ Ｐゴシック"/>
                <a:cs typeface="Arial"/>
              </a:rPr>
              <a:t>PS Category-</a:t>
            </a:r>
            <a:r>
              <a:rPr lang="en-US" sz="1600">
                <a:latin typeface="Arial"/>
                <a:ea typeface="ＭＳ Ｐゴシック"/>
                <a:cs typeface="Arial"/>
              </a:rPr>
              <a:t>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/>
                <a:ea typeface="ＭＳ Ｐゴシック"/>
                <a:cs typeface="Arial"/>
              </a:rPr>
              <a:t>Team ID-</a:t>
            </a:r>
            <a:r>
              <a:rPr lang="en-US" sz="1600">
                <a:latin typeface="Calibri"/>
                <a:ea typeface="Calibri"/>
                <a:cs typeface="Calibri"/>
              </a:rPr>
              <a:t>SIH26-A0H-T284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/>
                <a:ea typeface="ＭＳ Ｐゴシック"/>
                <a:cs typeface="Arial"/>
              </a:rPr>
              <a:t>Team Name (Registered on portal)-</a:t>
            </a:r>
            <a:r>
              <a:rPr lang="en-US" sz="1600">
                <a:latin typeface="Calibri"/>
                <a:ea typeface="Calibri"/>
                <a:cs typeface="Calibri"/>
              </a:rPr>
              <a:t>Krayons</a:t>
            </a:r>
            <a:endParaRPr lang="en-IN" sz="1600" b="1"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107869" y="1144583"/>
            <a:ext cx="39881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Arial"/>
                <a:ea typeface="ＭＳ Ｐゴシック"/>
                <a:cs typeface="Arial"/>
              </a:rPr>
              <a:t> </a:t>
            </a:r>
            <a:endParaRPr lang="en-US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85D0-7981-426C-AFD9-9E56E8BDCB70}" type="slidenum">
              <a:rPr lang="en-US" b="1" dirty="0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-705592" y="5801141"/>
            <a:ext cx="66936" cy="129680"/>
          </a:xfrm>
        </p:spPr>
        <p:txBody>
          <a:bodyPr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Krayons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E801BD-3FA1-BAFC-539F-CBDB51B9B154}"/>
              </a:ext>
            </a:extLst>
          </p:cNvPr>
          <p:cNvSpPr txBox="1"/>
          <p:nvPr/>
        </p:nvSpPr>
        <p:spPr>
          <a:xfrm>
            <a:off x="3948545" y="301831"/>
            <a:ext cx="594755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 i="0" u="sng" baseline="0">
                <a:solidFill>
                  <a:srgbClr val="1F497D"/>
                </a:solidFill>
                <a:latin typeface="Calibri"/>
                <a:ea typeface="ＭＳ Ｐゴシック"/>
              </a:rPr>
              <a:t>Collaborative AMR </a:t>
            </a:r>
            <a:r>
              <a:rPr lang="en-US" sz="2800" u="sng">
                <a:solidFill>
                  <a:srgbClr val="1F497D"/>
                </a:solidFill>
                <a:latin typeface="Calibri"/>
                <a:ea typeface="ＭＳ Ｐゴシック"/>
              </a:rPr>
              <a:t>Intelligence</a:t>
            </a:r>
            <a:endParaRPr lang="en-US" sz="2400" u="sng">
              <a:solidFill>
                <a:srgbClr val="1F497D"/>
              </a:solidFill>
              <a:ea typeface="ＭＳ Ｐゴシック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7C5B5-6FFD-E7FB-ECB6-FC4801C7EBC3}"/>
              </a:ext>
            </a:extLst>
          </p:cNvPr>
          <p:cNvSpPr txBox="1"/>
          <p:nvPr/>
        </p:nvSpPr>
        <p:spPr>
          <a:xfrm>
            <a:off x="2547749" y="1401936"/>
            <a:ext cx="94361" cy="38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6DA6AC-DA88-F284-E51E-214F4393C1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2" b="58032"/>
          <a:stretch>
            <a:fillRect/>
          </a:stretch>
        </p:blipFill>
        <p:spPr>
          <a:xfrm>
            <a:off x="9407435" y="2254332"/>
            <a:ext cx="2418228" cy="23534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FDAA459-6E6F-2FFB-67EC-9C170ECC30BF}"/>
              </a:ext>
            </a:extLst>
          </p:cNvPr>
          <p:cNvSpPr txBox="1"/>
          <p:nvPr/>
        </p:nvSpPr>
        <p:spPr>
          <a:xfrm>
            <a:off x="178130" y="1697181"/>
            <a:ext cx="4285014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 u="sng">
                <a:latin typeface="Calibri"/>
                <a:ea typeface="ＭＳ Ｐゴシック"/>
                <a:cs typeface="Calibri"/>
              </a:rPr>
              <a:t>Proposed Solution</a:t>
            </a:r>
            <a:r>
              <a:rPr lang="en-US" sz="2000" b="1">
                <a:latin typeface="Calibri"/>
                <a:ea typeface="ＭＳ Ｐゴシック"/>
                <a:cs typeface="Calibri"/>
              </a:rPr>
              <a:t>:</a:t>
            </a:r>
          </a:p>
          <a:p>
            <a:pPr>
              <a:buFont typeface=""/>
              <a:buChar char="•"/>
            </a:pPr>
            <a:r>
              <a:rPr lang="en-US" b="1"/>
              <a:t>3+ AMRs</a:t>
            </a:r>
            <a:r>
              <a:rPr lang="en-US"/>
              <a:t> operate collaboratively in a dynamic warehouse. </a:t>
            </a:r>
          </a:p>
          <a:p>
            <a:pPr>
              <a:buFont typeface=""/>
              <a:buChar char="•"/>
            </a:pPr>
            <a:r>
              <a:rPr lang="en-US"/>
              <a:t>Each robot makes </a:t>
            </a:r>
            <a:r>
              <a:rPr lang="en-US" b="1"/>
              <a:t>local decisions on edge hardware</a:t>
            </a:r>
            <a:r>
              <a:rPr lang="en-US"/>
              <a:t>. </a:t>
            </a:r>
          </a:p>
          <a:p>
            <a:pPr>
              <a:buFont typeface=""/>
              <a:buChar char="•"/>
            </a:pPr>
            <a:r>
              <a:rPr lang="en-US"/>
              <a:t>Robots communicate </a:t>
            </a:r>
            <a:r>
              <a:rPr lang="en-US" b="1"/>
              <a:t>position, velocity &amp; intent</a:t>
            </a:r>
            <a:r>
              <a:rPr lang="en-US"/>
              <a:t> directly. </a:t>
            </a:r>
          </a:p>
          <a:p>
            <a:pPr>
              <a:buFont typeface=""/>
              <a:buChar char="•"/>
            </a:pPr>
            <a:r>
              <a:rPr lang="en-US" b="1"/>
              <a:t>Ego-radius</a:t>
            </a:r>
            <a:r>
              <a:rPr lang="en-US"/>
              <a:t> filters only nearby robots for efficient processing. </a:t>
            </a:r>
          </a:p>
          <a:p>
            <a:pPr>
              <a:buFont typeface=""/>
              <a:buChar char="•"/>
            </a:pPr>
            <a:r>
              <a:rPr lang="en-US" b="1"/>
              <a:t>VO prediction</a:t>
            </a:r>
            <a:r>
              <a:rPr lang="en-US"/>
              <a:t> identifies potential collision risks. </a:t>
            </a:r>
          </a:p>
          <a:p>
            <a:pPr>
              <a:buFont typeface=""/>
              <a:buChar char="•"/>
            </a:pPr>
            <a:r>
              <a:rPr lang="en-US" b="1"/>
              <a:t>Priority-based yielding</a:t>
            </a:r>
            <a:r>
              <a:rPr lang="en-US"/>
              <a:t> resolves conflicts and deadlocks. </a:t>
            </a:r>
          </a:p>
          <a:p>
            <a:pPr>
              <a:buFont typeface=""/>
              <a:buChar char="•"/>
            </a:pPr>
            <a:r>
              <a:rPr lang="en-US" b="1"/>
              <a:t>Dynamic re-routing</a:t>
            </a:r>
            <a:r>
              <a:rPr lang="en-US"/>
              <a:t> handles blocked aisles. </a:t>
            </a:r>
          </a:p>
          <a:p>
            <a:pPr>
              <a:buFont typeface=""/>
              <a:buChar char="•"/>
            </a:pPr>
            <a:r>
              <a:rPr lang="en-US" b="1"/>
              <a:t>Task reassignment</a:t>
            </a:r>
            <a:r>
              <a:rPr lang="en-US"/>
              <a:t> keeps operations running if a robot becomes unavailable.</a:t>
            </a:r>
          </a:p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3836483-F32B-DB6B-740E-EF1ADE74D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673954"/>
              </p:ext>
            </p:extLst>
          </p:nvPr>
        </p:nvGraphicFramePr>
        <p:xfrm>
          <a:off x="4459185" y="2006930"/>
          <a:ext cx="4677058" cy="456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529">
                  <a:extLst>
                    <a:ext uri="{9D8B030D-6E8A-4147-A177-3AD203B41FA5}">
                      <a16:colId xmlns:a16="http://schemas.microsoft.com/office/drawing/2014/main" val="758469570"/>
                    </a:ext>
                  </a:extLst>
                </a:gridCol>
                <a:gridCol w="2338529">
                  <a:extLst>
                    <a:ext uri="{9D8B030D-6E8A-4147-A177-3AD203B41FA5}">
                      <a16:colId xmlns:a16="http://schemas.microsoft.com/office/drawing/2014/main" val="728832477"/>
                    </a:ext>
                  </a:extLst>
                </a:gridCol>
              </a:tblGrid>
              <a:tr h="467548">
                <a:tc>
                  <a:txBody>
                    <a:bodyPr/>
                    <a:lstStyle/>
                    <a:p>
                      <a:r>
                        <a:rPr lang="en-US"/>
                        <a:t>Problem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Solutions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728866"/>
                  </a:ext>
                </a:extLst>
              </a:tr>
              <a:tr h="467548">
                <a:tc>
                  <a:txBody>
                    <a:bodyPr/>
                    <a:lstStyle/>
                    <a:p>
                      <a:r>
                        <a:rPr lang="en-US"/>
                        <a:t>Network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Local edge decisions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280389"/>
                  </a:ext>
                </a:extLst>
              </a:tr>
              <a:tr h="606081">
                <a:tc>
                  <a:txBody>
                    <a:bodyPr/>
                    <a:lstStyle/>
                    <a:p>
                      <a:r>
                        <a:rPr lang="en-US"/>
                        <a:t>Wi-fi dead 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Peer-to-peer communication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910016"/>
                  </a:ext>
                </a:extLst>
              </a:tr>
              <a:tr h="606081">
                <a:tc>
                  <a:txBody>
                    <a:bodyPr/>
                    <a:lstStyle/>
                    <a:p>
                      <a:r>
                        <a:rPr lang="en-US"/>
                        <a:t>Central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Decentralized coordination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035879"/>
                  </a:ext>
                </a:extLst>
              </a:tr>
              <a:tr h="606081">
                <a:tc>
                  <a:txBody>
                    <a:bodyPr/>
                    <a:lstStyle/>
                    <a:p>
                      <a:r>
                        <a:rPr lang="en-US"/>
                        <a:t>Collision at intersection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VO + priority-based yielding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29448"/>
                  </a:ext>
                </a:extLst>
              </a:tr>
              <a:tr h="606081">
                <a:tc>
                  <a:txBody>
                    <a:bodyPr/>
                    <a:lstStyle/>
                    <a:p>
                      <a:r>
                        <a:rPr lang="en-US"/>
                        <a:t>Blocked aisle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Dynamic A* re-routing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961379"/>
                  </a:ext>
                </a:extLst>
              </a:tr>
              <a:tr h="606081">
                <a:tc>
                  <a:txBody>
                    <a:bodyPr/>
                    <a:lstStyle/>
                    <a:p>
                      <a:r>
                        <a:rPr lang="en-US"/>
                        <a:t>Robot/task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Dynamic task reassignment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3826"/>
                  </a:ext>
                </a:extLst>
              </a:tr>
              <a:tr h="4675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Narrow-aisle deadlock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Conflict 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20455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21EAF53-43DA-EE77-A643-CE5C10BAD573}"/>
              </a:ext>
            </a:extLst>
          </p:cNvPr>
          <p:cNvSpPr txBox="1"/>
          <p:nvPr/>
        </p:nvSpPr>
        <p:spPr>
          <a:xfrm>
            <a:off x="4946710" y="1533261"/>
            <a:ext cx="39271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 u="sng">
                <a:latin typeface="Calibri"/>
                <a:ea typeface="ＭＳ Ｐゴシック"/>
                <a:cs typeface="Calibri"/>
              </a:rPr>
              <a:t>How we address the Problem:</a:t>
            </a:r>
            <a:endParaRPr lang="en-US" b="1" i="1" u="sng"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805CC5-E477-209A-4AB6-A3FB13FB0CFF}"/>
              </a:ext>
            </a:extLst>
          </p:cNvPr>
          <p:cNvSpPr txBox="1"/>
          <p:nvPr/>
        </p:nvSpPr>
        <p:spPr>
          <a:xfrm>
            <a:off x="9176941" y="1532138"/>
            <a:ext cx="28599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 u="sng">
                <a:latin typeface="Calibri"/>
                <a:ea typeface="ＭＳ Ｐゴシック"/>
                <a:cs typeface="Calibri"/>
              </a:rPr>
              <a:t>Innovation &amp; Uniqueness:</a:t>
            </a:r>
            <a:endParaRPr lang="en-US" b="1" i="1" u="sng"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81A207-22CA-A873-72D7-2C8636CC7BAB}"/>
              </a:ext>
            </a:extLst>
          </p:cNvPr>
          <p:cNvSpPr txBox="1"/>
          <p:nvPr/>
        </p:nvSpPr>
        <p:spPr>
          <a:xfrm>
            <a:off x="9422632" y="4839377"/>
            <a:ext cx="241294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Predictive</a:t>
            </a:r>
            <a:endParaRPr lang="en-US">
              <a:cs typeface="Calibri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Distributed</a:t>
            </a:r>
            <a:endParaRPr lang="en-US">
              <a:cs typeface="Calibri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Local</a:t>
            </a:r>
            <a:endParaRPr lang="en-US">
              <a:cs typeface="Calibri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Adaptive</a:t>
            </a:r>
            <a:endParaRPr lang="en-US"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82145" y="2533653"/>
            <a:ext cx="5862288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b="1">
                <a:latin typeface="Calibri"/>
                <a:ea typeface="Calibri"/>
                <a:cs typeface="Calibri"/>
              </a:rPr>
              <a:t>Simulation:</a:t>
            </a:r>
            <a:r>
              <a:rPr lang="en-US" sz="2000">
                <a:latin typeface="Calibri"/>
                <a:ea typeface="Calibri"/>
                <a:cs typeface="Calibri"/>
              </a:rPr>
              <a:t> Isaac Sim / Gazebo </a:t>
            </a:r>
            <a:endParaRPr lang="en-US">
              <a:cs typeface="Calibri" pitchFamily="34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b="1">
                <a:latin typeface="Calibri"/>
                <a:ea typeface="Calibri"/>
                <a:cs typeface="Calibri"/>
              </a:rPr>
              <a:t>Development:</a:t>
            </a:r>
            <a:r>
              <a:rPr lang="en-US" sz="2000">
                <a:latin typeface="Calibri"/>
                <a:ea typeface="Calibri"/>
                <a:cs typeface="Calibri"/>
              </a:rPr>
              <a:t> Python </a:t>
            </a:r>
            <a:endParaRPr lang="en-US">
              <a:cs typeface="Calibri" pitchFamily="34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b="1">
                <a:latin typeface="Calibri"/>
                <a:ea typeface="Calibri"/>
                <a:cs typeface="Calibri"/>
              </a:rPr>
              <a:t>Communication:</a:t>
            </a:r>
            <a:r>
              <a:rPr lang="en-US" sz="2000">
                <a:latin typeface="Calibri"/>
                <a:ea typeface="Calibri"/>
                <a:cs typeface="Calibri"/>
              </a:rPr>
              <a:t> UDP / WebSocket </a:t>
            </a:r>
            <a:endParaRPr lang="en-US">
              <a:cs typeface="Calibri" pitchFamily="34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b="1">
                <a:latin typeface="Calibri"/>
                <a:ea typeface="Calibri"/>
                <a:cs typeface="Calibri"/>
              </a:rPr>
              <a:t>Path Planning:</a:t>
            </a:r>
            <a:r>
              <a:rPr lang="en-US" sz="2000">
                <a:latin typeface="Calibri"/>
                <a:ea typeface="Calibri"/>
                <a:cs typeface="Calibri"/>
              </a:rPr>
              <a:t> A* </a:t>
            </a:r>
            <a:endParaRPr lang="en-US">
              <a:cs typeface="Calibri" pitchFamily="34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b="1">
                <a:latin typeface="Calibri"/>
                <a:ea typeface="Calibri"/>
                <a:cs typeface="Calibri"/>
              </a:rPr>
              <a:t>Collision Avoidance:</a:t>
            </a:r>
            <a:r>
              <a:rPr lang="en-US" sz="2000">
                <a:latin typeface="Calibri"/>
                <a:ea typeface="Calibri"/>
                <a:cs typeface="Calibri"/>
              </a:rPr>
              <a:t> Velocity Obstacle </a:t>
            </a:r>
            <a:endParaRPr lang="en-US">
              <a:cs typeface="Calibri" pitchFamily="34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b="1">
                <a:latin typeface="Calibri"/>
                <a:ea typeface="Calibri"/>
                <a:cs typeface="Calibri"/>
              </a:rPr>
              <a:t>Coordination:</a:t>
            </a:r>
            <a:r>
              <a:rPr lang="en-US" sz="2000">
                <a:latin typeface="Calibri"/>
                <a:ea typeface="Calibri"/>
                <a:cs typeface="Calibri"/>
              </a:rPr>
              <a:t> Priority Matrix </a:t>
            </a:r>
            <a:endParaRPr lang="en-US">
              <a:cs typeface="Calibri" pitchFamily="34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b="1">
                <a:latin typeface="Calibri"/>
                <a:ea typeface="Calibri"/>
                <a:cs typeface="Calibri"/>
              </a:rPr>
              <a:t>Dashboard:</a:t>
            </a:r>
            <a:r>
              <a:rPr lang="en-US" sz="2000">
                <a:latin typeface="Calibri"/>
                <a:ea typeface="Calibri"/>
                <a:cs typeface="Calibri"/>
              </a:rPr>
              <a:t> Streamlit + Plotly </a:t>
            </a:r>
            <a:endParaRPr lang="en-US">
              <a:cs typeface="Calibri" pitchFamily="34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b="1">
                <a:latin typeface="Calibri"/>
                <a:ea typeface="Calibri"/>
                <a:cs typeface="Calibri"/>
              </a:rPr>
              <a:t>Edge Deployment:</a:t>
            </a:r>
            <a:r>
              <a:rPr lang="en-US" sz="2000">
                <a:latin typeface="Calibri"/>
                <a:ea typeface="Calibri"/>
                <a:cs typeface="Calibri"/>
              </a:rPr>
              <a:t> Raspberry Pi / Jetson-class hardware</a:t>
            </a:r>
            <a:endParaRPr lang="en-US">
              <a:cs typeface="Calibri" pitchFamily="34" charset="0"/>
            </a:endParaRPr>
          </a:p>
          <a:p>
            <a:pPr algn="just"/>
            <a:endParaRPr lang="en-US" sz="2000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832E50A-70C7-0512-7A90-A3BFD7BADF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Krayons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860FA9-C3C6-C7AF-EE3A-D1FBCC7320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49" r="15871"/>
          <a:stretch>
            <a:fillRect/>
          </a:stretch>
        </p:blipFill>
        <p:spPr>
          <a:xfrm>
            <a:off x="309230" y="1484416"/>
            <a:ext cx="5357587" cy="523503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29ED67-1BB0-C709-AB2C-BCFFB859E404}"/>
              </a:ext>
            </a:extLst>
          </p:cNvPr>
          <p:cNvSpPr txBox="1"/>
          <p:nvPr/>
        </p:nvSpPr>
        <p:spPr>
          <a:xfrm>
            <a:off x="1366096" y="1102645"/>
            <a:ext cx="33663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 u="sng">
                <a:latin typeface="Calibri"/>
                <a:ea typeface="ＭＳ Ｐゴシック"/>
                <a:cs typeface="Calibri"/>
              </a:rPr>
              <a:t>How the Fleet Coordinates</a:t>
            </a:r>
            <a:endParaRPr lang="en-US" b="1" i="1" u="sng"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728B76-C724-6A15-6BDE-571585A2968E}"/>
              </a:ext>
            </a:extLst>
          </p:cNvPr>
          <p:cNvSpPr txBox="1"/>
          <p:nvPr/>
        </p:nvSpPr>
        <p:spPr>
          <a:xfrm>
            <a:off x="6953137" y="1932423"/>
            <a:ext cx="35722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1" u="sng">
                <a:latin typeface="Calibri"/>
                <a:ea typeface="ＭＳ Ｐゴシック"/>
                <a:cs typeface="Calibri"/>
              </a:rPr>
              <a:t>Technology:</a:t>
            </a:r>
            <a:endParaRPr lang="en-US" b="1" i="1" u="sng"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4275" y="1929991"/>
            <a:ext cx="3655457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US" b="1" i="1" u="sng">
                <a:latin typeface="Calibri"/>
                <a:ea typeface="ＭＳ Ｐゴシック"/>
                <a:cs typeface="Calibri"/>
              </a:rPr>
              <a:t>Analysis of Feasibility:</a:t>
            </a:r>
          </a:p>
          <a:p>
            <a:pPr marL="285750" indent="-285750" algn="just">
              <a:buFont typeface="Courier New"/>
              <a:buChar char="o"/>
              <a:defRPr/>
            </a:pP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Software-based multi-robot simulation supports 3+ AMRs in a dynamic warehouse. </a:t>
            </a:r>
            <a:endParaRPr lang="en-US" sz="1600">
              <a:solidFill>
                <a:prstClr val="black"/>
              </a:solidFill>
              <a:cs typeface="Calibri"/>
            </a:endParaRPr>
          </a:p>
          <a:p>
            <a:pPr marL="285750" indent="-285750" algn="just">
              <a:buFont typeface="Courier New"/>
              <a:buChar char="o"/>
              <a:defRPr/>
            </a:pP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Peer-to-peer communication enables robots to share position and intent without a central server. </a:t>
            </a:r>
            <a:endParaRPr lang="en-US" sz="1600">
              <a:solidFill>
                <a:prstClr val="black"/>
              </a:solidFill>
              <a:cs typeface="Calibri"/>
            </a:endParaRPr>
          </a:p>
          <a:p>
            <a:pPr marL="285750" indent="-285750" algn="just">
              <a:buFont typeface="Courier New"/>
              <a:buChar char="o"/>
              <a:defRPr/>
            </a:pP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Multi-agent path planning enables coordinated movement through shared warehouse paths. </a:t>
            </a:r>
            <a:endParaRPr lang="en-US" sz="1600">
              <a:solidFill>
                <a:prstClr val="black"/>
              </a:solidFill>
              <a:cs typeface="Calibri"/>
            </a:endParaRPr>
          </a:p>
          <a:p>
            <a:pPr marL="285750" indent="-285750" algn="just">
              <a:buFont typeface="Courier New"/>
              <a:buChar char="o"/>
              <a:defRPr/>
            </a:pP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Dynamic re-routing allows robots to respond to blocked aisles. </a:t>
            </a:r>
            <a:endParaRPr lang="en-US" sz="1600">
              <a:solidFill>
                <a:prstClr val="black"/>
              </a:solidFill>
              <a:cs typeface="Calibri"/>
            </a:endParaRPr>
          </a:p>
          <a:p>
            <a:pPr marL="285750" indent="-285750" algn="just">
              <a:buFont typeface="Courier New"/>
              <a:buChar char="o"/>
              <a:defRPr/>
            </a:pP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A fleet dashboard provides real-time visualization of robot positions and battery status. </a:t>
            </a:r>
            <a:endParaRPr lang="en-US" sz="1600">
              <a:solidFill>
                <a:prstClr val="black"/>
              </a:solidFill>
              <a:cs typeface="Calibri"/>
            </a:endParaRPr>
          </a:p>
          <a:p>
            <a:pPr marL="285750" indent="-285750" algn="just">
              <a:buFont typeface="Courier New"/>
              <a:buChar char="o"/>
              <a:defRPr/>
            </a:pPr>
            <a:r>
              <a:rPr lang="en-US" sz="16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Performance can be validated against traditional stop-and-wait coordination.</a:t>
            </a:r>
            <a:endParaRPr lang="en-US" sz="1600">
              <a:solidFill>
                <a:prstClr val="black"/>
              </a:solidFill>
              <a:cs typeface="Calibri"/>
            </a:endParaRPr>
          </a:p>
          <a:p>
            <a:pPr marL="285750" marR="0" lvl="0" indent="-28575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/>
              <a:buChar char="o"/>
              <a:tabLst/>
              <a:defRPr/>
            </a:pP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7273D08-E4BD-AC31-8D62-68A73C90F4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Krayons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E97B3-E2FA-6767-4959-B545454C4731}"/>
              </a:ext>
            </a:extLst>
          </p:cNvPr>
          <p:cNvSpPr txBox="1"/>
          <p:nvPr/>
        </p:nvSpPr>
        <p:spPr>
          <a:xfrm>
            <a:off x="3819896" y="1934688"/>
            <a:ext cx="3918858" cy="40296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 u="sng">
                <a:latin typeface="Calibri"/>
                <a:ea typeface="ＭＳ Ｐゴシック"/>
                <a:cs typeface="Calibri"/>
              </a:rPr>
              <a:t>Potential Challenges &amp; Risks:</a:t>
            </a: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Communication challenges between nearby robots. </a:t>
            </a: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Collision risks at narrow intersections and choke points. </a:t>
            </a: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Deadlocks when multiple robots compete for the same space. </a:t>
            </a: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Blocked aisles making planned paths unavailable. </a:t>
            </a: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Overlapping paths increasing waiting and task completion time. </a:t>
            </a: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alibri"/>
                <a:ea typeface="ＭＳ Ｐゴシック"/>
                <a:cs typeface="Calibri"/>
              </a:rPr>
              <a:t>Maintaining coordination as the fleet size increases. </a:t>
            </a: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E694F-0920-C3CB-0AF2-D83F5FA91A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39" t="998" r="4023" b="1522"/>
          <a:stretch>
            <a:fillRect/>
          </a:stretch>
        </p:blipFill>
        <p:spPr>
          <a:xfrm>
            <a:off x="7720498" y="2262145"/>
            <a:ext cx="4468679" cy="4437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1E626C-B3CC-A951-A9DC-319B6AF5C857}"/>
              </a:ext>
            </a:extLst>
          </p:cNvPr>
          <p:cNvSpPr txBox="1"/>
          <p:nvPr/>
        </p:nvSpPr>
        <p:spPr>
          <a:xfrm>
            <a:off x="7645340" y="1938574"/>
            <a:ext cx="3928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 u="sng">
                <a:latin typeface="Calibri"/>
                <a:ea typeface="Calibri"/>
                <a:cs typeface="Calibri"/>
              </a:rPr>
              <a:t>Strategies to Overcome Challenge</a:t>
            </a:r>
            <a:r>
              <a:rPr lang="en-US">
                <a:latin typeface="Calibri"/>
                <a:ea typeface="Calibri"/>
                <a:cs typeface="Calibri"/>
              </a:rPr>
              <a:t>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4275" y="1840926"/>
            <a:ext cx="5189354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kumimoji="0" lang="en-US" sz="2000" b="1" i="1" u="sng">
                <a:latin typeface="Calibri"/>
                <a:ea typeface="ＭＳ Ｐゴシック"/>
                <a:cs typeface="Calibri"/>
              </a:rPr>
              <a:t>Potential </a:t>
            </a:r>
            <a:r>
              <a:rPr lang="en-US" sz="2000" b="1" i="1" u="sng">
                <a:latin typeface="Calibri"/>
                <a:ea typeface="ＭＳ Ｐゴシック"/>
                <a:cs typeface="Calibri"/>
              </a:rPr>
              <a:t>Impact:</a:t>
            </a:r>
          </a:p>
          <a:p>
            <a:pPr marL="342900" indent="-342900" algn="just">
              <a:buFont typeface="Wingdings" panose="020B0604020202020204" pitchFamily="34" charset="0"/>
              <a:buChar char="§"/>
              <a:defRPr/>
            </a:pPr>
            <a:r>
              <a:rPr lang="en-US" sz="2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Improves warehouse throughput through coordinated AMR movement. </a:t>
            </a:r>
            <a:endParaRPr lang="en-US">
              <a:solidFill>
                <a:prstClr val="black"/>
              </a:solidFill>
              <a:cs typeface="Calibri"/>
            </a:endParaRPr>
          </a:p>
          <a:p>
            <a:pPr marL="342900" indent="-342900" algn="just">
              <a:buFont typeface="Wingdings" panose="020B0604020202020204" pitchFamily="34" charset="0"/>
              <a:buChar char="§"/>
              <a:defRPr/>
            </a:pPr>
            <a:r>
              <a:rPr lang="en-US" sz="2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Reduces unnecessary waiting at shared paths and intersections. </a:t>
            </a:r>
            <a:endParaRPr lang="en-US">
              <a:solidFill>
                <a:prstClr val="black"/>
              </a:solidFill>
              <a:cs typeface="Calibri"/>
            </a:endParaRPr>
          </a:p>
          <a:p>
            <a:pPr marL="342900" indent="-342900" algn="just">
              <a:buFont typeface="Wingdings" panose="020B0604020202020204" pitchFamily="34" charset="0"/>
              <a:buChar char="§"/>
              <a:defRPr/>
            </a:pPr>
            <a:r>
              <a:rPr lang="en-US" sz="2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Enables continuous fleet operation in dynamic conditions. </a:t>
            </a:r>
            <a:endParaRPr lang="en-US">
              <a:solidFill>
                <a:prstClr val="black"/>
              </a:solidFill>
              <a:cs typeface="Calibri"/>
            </a:endParaRPr>
          </a:p>
          <a:p>
            <a:pPr marL="342900" indent="-342900" algn="just">
              <a:buFont typeface="Wingdings" panose="020B0604020202020204" pitchFamily="34" charset="0"/>
              <a:buChar char="§"/>
              <a:defRPr/>
            </a:pPr>
            <a:r>
              <a:rPr lang="en-US" sz="2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Provides real-time fleet visibility to warehouse operators.</a:t>
            </a:r>
            <a:endParaRPr lang="en-US">
              <a:solidFill>
                <a:prstClr val="black"/>
              </a:solidFill>
              <a:cs typeface="Calibri"/>
            </a:endParaRPr>
          </a:p>
          <a:p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/>
              <a:buChar char="§"/>
              <a:tabLst/>
              <a:defRPr/>
            </a:pPr>
            <a:endParaRPr lang="en-US" sz="2000"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6E306C2-E727-AC45-4167-E8BB0C1A93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Krayons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CC2E8-CDEB-855F-33DD-9C5A0E676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293" y="1098467"/>
            <a:ext cx="4423857" cy="5284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77D448-B75B-E42D-9D44-3B1975CD9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322" y="4766532"/>
            <a:ext cx="2743199" cy="177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br>
              <a:rPr lang="en-US"/>
            </a:br>
            <a:endParaRPr lang="en-US"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71836BE-D90A-2369-DC8C-6F66711F00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Krayons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7F782-1C5D-792B-9F02-C5536563B624}"/>
              </a:ext>
            </a:extLst>
          </p:cNvPr>
          <p:cNvSpPr txBox="1"/>
          <p:nvPr/>
        </p:nvSpPr>
        <p:spPr>
          <a:xfrm>
            <a:off x="277091" y="2795649"/>
            <a:ext cx="529441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 b="1"/>
              <a:t>Velocity Obstacles (VO)</a:t>
            </a:r>
            <a:r>
              <a:rPr lang="en-US"/>
              <a:t> → Collision prediction </a:t>
            </a:r>
          </a:p>
          <a:p>
            <a:pPr marL="285750" indent="-285750">
              <a:buFont typeface="Courier New"/>
              <a:buChar char="o"/>
            </a:pPr>
            <a:r>
              <a:rPr lang="en-US" b="1"/>
              <a:t>Multi-Agent Path Planning</a:t>
            </a:r>
            <a:r>
              <a:rPr lang="en-US"/>
              <a:t> → Coordinated robot navigation </a:t>
            </a:r>
            <a:endParaRPr lang="en-US">
              <a:cs typeface="Calibri" pitchFamily="34" charset="0"/>
            </a:endParaRPr>
          </a:p>
          <a:p>
            <a:pPr marL="285750" indent="-285750">
              <a:buFont typeface="Courier New"/>
              <a:buChar char="o"/>
            </a:pPr>
            <a:r>
              <a:rPr lang="en-US" b="1"/>
              <a:t>Decentralized Multi-Robot Coordination</a:t>
            </a:r>
            <a:r>
              <a:rPr lang="en-US"/>
              <a:t> → Robot-to-robot decision making </a:t>
            </a:r>
            <a:endParaRPr lang="en-US">
              <a:cs typeface="Calibri" pitchFamily="34" charset="0"/>
            </a:endParaRPr>
          </a:p>
          <a:p>
            <a:pPr marL="285750" indent="-285750">
              <a:buFont typeface="Courier New"/>
              <a:buChar char="o"/>
            </a:pPr>
            <a:r>
              <a:rPr lang="en-US" b="1"/>
              <a:t>Robotics Simulation</a:t>
            </a:r>
            <a:r>
              <a:rPr lang="en-US"/>
              <a:t> → Virtual testing of 3+ AMRs</a:t>
            </a:r>
            <a:endParaRPr lang="en-US">
              <a:cs typeface="Calibri" pitchFamily="34" charset="0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D13FE-B16A-9760-1707-2587390C6DD3}"/>
              </a:ext>
            </a:extLst>
          </p:cNvPr>
          <p:cNvSpPr txBox="1"/>
          <p:nvPr/>
        </p:nvSpPr>
        <p:spPr>
          <a:xfrm>
            <a:off x="860857" y="2045560"/>
            <a:ext cx="29656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 u="sng">
                <a:latin typeface="Calibri"/>
                <a:ea typeface="ＭＳ Ｐゴシック"/>
                <a:cs typeface="Calibri"/>
              </a:rPr>
              <a:t>Research topics:</a:t>
            </a:r>
            <a:endParaRPr lang="en-US" sz="2000" b="1" i="1" u="sng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16333-29EF-B05D-8FD8-40AEB97E087A}"/>
              </a:ext>
            </a:extLst>
          </p:cNvPr>
          <p:cNvSpPr txBox="1"/>
          <p:nvPr/>
        </p:nvSpPr>
        <p:spPr>
          <a:xfrm>
            <a:off x="8292831" y="2045560"/>
            <a:ext cx="29656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 u="sng">
                <a:latin typeface="Calibri"/>
                <a:ea typeface="ＭＳ Ｐゴシック"/>
                <a:cs typeface="Calibri"/>
              </a:rPr>
              <a:t>References:</a:t>
            </a:r>
            <a:endParaRPr lang="en-US" sz="2000" b="1" i="1" u="sng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B7CFA-9BA1-3D53-25FB-3D44FC232C9C}"/>
              </a:ext>
            </a:extLst>
          </p:cNvPr>
          <p:cNvSpPr txBox="1"/>
          <p:nvPr/>
        </p:nvSpPr>
        <p:spPr>
          <a:xfrm>
            <a:off x="5690260" y="2686792"/>
            <a:ext cx="6096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ＭＳ Ｐゴシック"/>
                <a:cs typeface="Calibri"/>
              </a:rPr>
              <a:t>[1]</a:t>
            </a:r>
            <a:r>
              <a:rPr lang="en-US">
                <a:latin typeface="Calibri"/>
                <a:ea typeface="ＭＳ Ｐゴシック"/>
                <a:cs typeface="Calibri"/>
              </a:rPr>
              <a:t> </a:t>
            </a:r>
            <a:r>
              <a:rPr lang="en-US" i="1">
                <a:latin typeface="Calibri"/>
                <a:ea typeface="ＭＳ Ｐゴシック"/>
                <a:cs typeface="Calibri"/>
              </a:rPr>
              <a:t>Motion Planning in Dynamic Environments Using Velocity Obstacles</a:t>
            </a:r>
            <a:br>
              <a:rPr lang="en-US"/>
            </a:br>
            <a:r>
              <a:rPr lang="en-US" b="1">
                <a:latin typeface="Calibri"/>
                <a:ea typeface="ＭＳ Ｐゴシック"/>
                <a:cs typeface="Calibri"/>
              </a:rPr>
              <a:t>Publisher:</a:t>
            </a:r>
            <a:r>
              <a:rPr lang="en-US">
                <a:latin typeface="Calibri"/>
                <a:ea typeface="ＭＳ Ｐゴシック"/>
                <a:cs typeface="Calibri"/>
              </a:rPr>
              <a:t> SAGE Publications — </a:t>
            </a:r>
            <a:r>
              <a:rPr lang="en-US" i="1">
                <a:latin typeface="Calibri"/>
                <a:ea typeface="ＭＳ Ｐゴシック"/>
                <a:cs typeface="Calibri"/>
              </a:rPr>
              <a:t>The International Journal of Robotics Research</a:t>
            </a:r>
            <a:r>
              <a:rPr lang="en-US">
                <a:latin typeface="Calibri"/>
                <a:ea typeface="ＭＳ Ｐゴシック"/>
                <a:cs typeface="Calibri"/>
              </a:rPr>
              <a:t> </a:t>
            </a:r>
            <a:br>
              <a:rPr lang="en-US">
                <a:latin typeface="Calibri"/>
                <a:ea typeface="ＭＳ Ｐゴシック"/>
                <a:cs typeface="Calibri"/>
              </a:rPr>
            </a:br>
            <a:r>
              <a:rPr lang="en-US" b="1">
                <a:latin typeface="Calibri"/>
                <a:ea typeface="Calibri"/>
                <a:cs typeface="Calibri"/>
              </a:rPr>
              <a:t>[2]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i="1">
                <a:latin typeface="Calibri"/>
                <a:ea typeface="Calibri"/>
                <a:cs typeface="Calibri"/>
              </a:rPr>
              <a:t>Multi Robot Collision Avoidance in a Shared Workspace</a:t>
            </a:r>
            <a:br>
              <a:rPr lang="en-US" i="1">
                <a:ea typeface="Calibri"/>
                <a:cs typeface="Calibri"/>
              </a:rPr>
            </a:br>
            <a:r>
              <a:rPr lang="en-US" i="1"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latin typeface="Calibri"/>
                <a:ea typeface="Calibri"/>
                <a:cs typeface="Calibri"/>
              </a:rPr>
              <a:t>Publisher:</a:t>
            </a:r>
            <a:r>
              <a:rPr lang="en-US">
                <a:latin typeface="Calibri"/>
                <a:ea typeface="Calibri"/>
                <a:cs typeface="Calibri"/>
              </a:rPr>
              <a:t> Springer — </a:t>
            </a:r>
            <a:r>
              <a:rPr lang="en-US" i="1">
                <a:latin typeface="Calibri"/>
                <a:ea typeface="Calibri"/>
                <a:cs typeface="Calibri"/>
              </a:rPr>
              <a:t>Autonomous Robots</a:t>
            </a:r>
            <a:endParaRPr lang="en-US">
              <a:latin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[3]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i="1">
                <a:latin typeface="Calibri"/>
                <a:ea typeface="Calibri"/>
                <a:cs typeface="Calibri"/>
              </a:rPr>
              <a:t>Reciprocal n-Body Collision Avoidance</a:t>
            </a:r>
            <a:br>
              <a:rPr lang="en-US" i="1">
                <a:ea typeface="Calibri"/>
                <a:cs typeface="Calibri"/>
              </a:rPr>
            </a:br>
            <a:r>
              <a:rPr lang="en-US" i="1"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latin typeface="Calibri"/>
                <a:ea typeface="Calibri"/>
                <a:cs typeface="Calibri"/>
              </a:rPr>
              <a:t>Publisher:</a:t>
            </a:r>
            <a:r>
              <a:rPr lang="en-US">
                <a:latin typeface="Calibri"/>
                <a:ea typeface="Calibri"/>
                <a:cs typeface="Calibri"/>
              </a:rPr>
              <a:t> Springer — </a:t>
            </a:r>
            <a:r>
              <a:rPr lang="en-US" i="1">
                <a:latin typeface="Calibri"/>
                <a:ea typeface="Calibri"/>
                <a:cs typeface="Calibri"/>
              </a:rPr>
              <a:t>Robotics Research / Springer Tracts in Advanced Robotics</a:t>
            </a:r>
            <a:endParaRPr lang="en-US">
              <a:latin typeface="Calibri"/>
            </a:endParaRPr>
          </a:p>
          <a:p>
            <a:pPr algn="ctr"/>
            <a:endParaRPr lang="en-US"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6</cp:revision>
  <dcterms:created xsi:type="dcterms:W3CDTF">2013-12-12T18:46:50Z</dcterms:created>
  <dcterms:modified xsi:type="dcterms:W3CDTF">2026-08-30T12:47:14Z</dcterms:modified>
  <cp:category/>
</cp:coreProperties>
</file>